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87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6" r:id="rId9"/>
    <p:sldId id="265" r:id="rId10"/>
    <p:sldId id="264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79" autoAdjust="0"/>
    <p:restoredTop sz="94660"/>
  </p:normalViewPr>
  <p:slideViewPr>
    <p:cSldViewPr snapToGrid="0">
      <p:cViewPr varScale="1">
        <p:scale>
          <a:sx n="103" d="100"/>
          <a:sy n="103" d="100"/>
        </p:scale>
        <p:origin x="86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Title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62399" y="1964267"/>
            <a:ext cx="7197726" cy="2421464"/>
          </a:xfrm>
        </p:spPr>
        <p:txBody>
          <a:bodyPr anchor="b">
            <a:normAutofit/>
          </a:bodyPr>
          <a:lstStyle>
            <a:lvl1pPr algn="r">
              <a:defRPr sz="48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962399" y="4385732"/>
            <a:ext cx="7197726" cy="1405467"/>
          </a:xfrm>
        </p:spPr>
        <p:txBody>
          <a:bodyPr anchor="t">
            <a:normAutofit/>
          </a:bodyPr>
          <a:lstStyle>
            <a:lvl1pPr marL="0" indent="0" algn="r">
              <a:buNone/>
              <a:defRPr sz="1800" cap="all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32558" y="5870575"/>
            <a:ext cx="1600200" cy="377825"/>
          </a:xfrm>
        </p:spPr>
        <p:txBody>
          <a:bodyPr/>
          <a:lstStyle/>
          <a:p>
            <a:fld id="{B61BEF0D-F0BB-DE4B-95CE-6DB70DBA9567}" type="datetimeFigureOut">
              <a:rPr lang="en-US" smtClean="0"/>
              <a:pPr/>
              <a:t>6/8/2026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962399" y="5870575"/>
            <a:ext cx="4893958" cy="3778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08958" y="5870575"/>
            <a:ext cx="551167" cy="3778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6005136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6/8/2026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37836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308581"/>
            <a:ext cx="10131427" cy="1468800"/>
          </a:xfrm>
        </p:spPr>
        <p:txBody>
          <a:bodyPr anchor="b"/>
          <a:lstStyle>
            <a:lvl1pPr algn="l">
              <a:defRPr sz="40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7381"/>
            <a:ext cx="1013142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 cap="all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6/8/2026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936792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2" y="2142067"/>
            <a:ext cx="4995334" cy="364913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21895" y="2142067"/>
            <a:ext cx="4995332" cy="364913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6/8/2026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07834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3670" y="2218267"/>
            <a:ext cx="470905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1" y="2870201"/>
            <a:ext cx="4996923" cy="292099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96003" y="2226734"/>
            <a:ext cx="4722813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23483" y="2870201"/>
            <a:ext cx="4995334" cy="292099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6/8/2026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23091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6/8/2026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89539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6/8/2026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26363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074333"/>
            <a:ext cx="3680885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48201" y="609601"/>
            <a:ext cx="6169026" cy="51816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445933"/>
            <a:ext cx="3680885" cy="1828800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6/8/2026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052266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600200"/>
            <a:ext cx="6164653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36253" y="914400"/>
            <a:ext cx="3280974" cy="4572000"/>
          </a:xfrm>
          <a:prstGeom prst="roundRect">
            <a:avLst>
              <a:gd name="adj" fmla="val 42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2971800"/>
            <a:ext cx="6164653" cy="1828800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6/8/2026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04452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732865"/>
            <a:ext cx="1013142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371600" y="932112"/>
            <a:ext cx="8759827" cy="3164976"/>
          </a:xfrm>
          <a:prstGeom prst="roundRect">
            <a:avLst>
              <a:gd name="adj" fmla="val 43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299603"/>
            <a:ext cx="10131427" cy="49371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6/8/2026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251525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3124199"/>
          </a:xfrm>
        </p:spPr>
        <p:txBody>
          <a:bodyPr anchor="ctr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6/8/2026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647228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97875" y="3352800"/>
            <a:ext cx="9339184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7465" y="4343400"/>
            <a:ext cx="10152367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6/8/2026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898910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2" y="3308581"/>
            <a:ext cx="10131425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4777381"/>
            <a:ext cx="10131426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6/8/2026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302305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0" y="3886200"/>
            <a:ext cx="10135436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5200"/>
            <a:ext cx="10135436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6/8/2026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4127197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1" y="3505200"/>
            <a:ext cx="10131428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6/8/2026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63604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6/8/2026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336371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8675" y="609599"/>
            <a:ext cx="2158552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7832116" cy="51816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6/8/2026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32327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2142067"/>
            <a:ext cx="10131425" cy="36491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B61BEF0D-F0BB-DE4B-95CE-6DB70DBA9567}" type="datetimeFigureOut">
              <a:rPr lang="en-US" smtClean="0"/>
              <a:pPr/>
              <a:t>6/8/2026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643754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88" r:id="rId1"/>
    <p:sldLayoutId id="2147483689" r:id="rId2"/>
    <p:sldLayoutId id="2147483690" r:id="rId3"/>
    <p:sldLayoutId id="2147483691" r:id="rId4"/>
    <p:sldLayoutId id="2147483692" r:id="rId5"/>
    <p:sldLayoutId id="2147483693" r:id="rId6"/>
    <p:sldLayoutId id="2147483694" r:id="rId7"/>
    <p:sldLayoutId id="2147483695" r:id="rId8"/>
    <p:sldLayoutId id="2147483696" r:id="rId9"/>
    <p:sldLayoutId id="2147483697" r:id="rId10"/>
    <p:sldLayoutId id="2147483698" r:id="rId11"/>
    <p:sldLayoutId id="2147483699" r:id="rId12"/>
    <p:sldLayoutId id="2147483700" r:id="rId13"/>
    <p:sldLayoutId id="2147483701" r:id="rId14"/>
    <p:sldLayoutId id="2147483702" r:id="rId15"/>
    <p:sldLayoutId id="2147483703" r:id="rId16"/>
    <p:sldLayoutId id="2147483704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swamx/FinAgent.git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swamx/FinAgent/blob/main/docs/Demo.md#architecture-at-a-glance" TargetMode="Externa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hyperlink" Target="https://www.reddit.com/r/ClaudeAI/comments/1t8xtcf/attention_opus_47_is_english_only_using_foreign/" TargetMode="Externa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9DAA23-8CF7-6D53-9BA4-2DAD9530897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CA" b="1" dirty="0" err="1"/>
              <a:t>FinAgent</a:t>
            </a:r>
            <a:r>
              <a:rPr lang="en-CA" b="1" dirty="0"/>
              <a:t>: Compliance Research Platform for AML/PEP/Sanctions</a:t>
            </a:r>
            <a:endParaRPr lang="en-CA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B2FCC9A-DF4D-055C-D729-B3654B938F6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CA" i="1" dirty="0"/>
              <a:t>From fragmented sources to auditable conclusions — faster</a:t>
            </a:r>
          </a:p>
          <a:p>
            <a:pPr marL="285750" indent="-285750">
              <a:buFontTx/>
              <a:buChar char="-"/>
            </a:pPr>
            <a:r>
              <a:rPr lang="en-CA" i="1" dirty="0"/>
              <a:t>Devang Swami</a:t>
            </a:r>
          </a:p>
          <a:p>
            <a:pPr marL="285750" indent="-285750">
              <a:buFontTx/>
              <a:buChar char="-"/>
            </a:pPr>
            <a:endParaRPr lang="en-CA" i="1" dirty="0"/>
          </a:p>
          <a:p>
            <a:pPr marL="285750" indent="-285750">
              <a:buFontTx/>
              <a:buChar char="-"/>
            </a:pPr>
            <a:r>
              <a:rPr lang="en-CA" i="1" dirty="0"/>
              <a:t>GITHUB - </a:t>
            </a:r>
            <a:r>
              <a:rPr lang="en-CA" i="1" dirty="0">
                <a:hlinkClick r:id="rId2"/>
              </a:rPr>
              <a:t>https://github.com/swamx/FinAgent.git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811706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688CD1-A6B0-3284-5F97-B3F5D9C8BE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b="1" dirty="0"/>
              <a:t>Problem Statement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514975-B50F-5AA7-A4BF-8F8A213A6BC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36512" y="1922105"/>
            <a:ext cx="5481733" cy="4260981"/>
          </a:xfrm>
        </p:spPr>
        <p:txBody>
          <a:bodyPr>
            <a:normAutofit/>
          </a:bodyPr>
          <a:lstStyle/>
          <a:p>
            <a:r>
              <a:rPr lang="en-CA" sz="1400" b="1" dirty="0"/>
              <a:t>The compliance analyst's real workflow today</a:t>
            </a:r>
          </a:p>
          <a:p>
            <a:r>
              <a:rPr lang="en-CA" sz="1400" dirty="0"/>
              <a:t>A compliance analyst may spend </a:t>
            </a:r>
            <a:r>
              <a:rPr lang="en-CA" sz="1400" b="1" dirty="0"/>
              <a:t>hours gathering evidence</a:t>
            </a:r>
            <a:r>
              <a:rPr lang="en-CA" sz="1400" dirty="0"/>
              <a:t> before making a single risk recommendation. The challenge isn't finding information — it's </a:t>
            </a:r>
            <a:r>
              <a:rPr lang="en-CA" sz="1400" b="1" dirty="0"/>
              <a:t>connecting information across multiple trusted sources</a:t>
            </a:r>
            <a:r>
              <a:rPr lang="en-CA" sz="1400" dirty="0"/>
              <a:t> and producing an </a:t>
            </a:r>
            <a:r>
              <a:rPr lang="en-CA" sz="1400" b="1" dirty="0"/>
              <a:t>auditable conclusion</a:t>
            </a:r>
            <a:r>
              <a:rPr lang="en-CA" sz="1400" dirty="0"/>
              <a:t>.</a:t>
            </a:r>
          </a:p>
          <a:p>
            <a:r>
              <a:rPr lang="en-CA" sz="1400" dirty="0"/>
              <a:t>Analyst workflow today:</a:t>
            </a:r>
          </a:p>
          <a:p>
            <a:pPr lvl="1"/>
            <a:r>
              <a:rPr lang="en-CA" sz="1200" dirty="0"/>
              <a:t>Search sanctions list manually      → 15–30 min</a:t>
            </a:r>
          </a:p>
          <a:p>
            <a:pPr lvl="1"/>
            <a:r>
              <a:rPr lang="en-CA" sz="1200" dirty="0"/>
              <a:t>Cross-reference subsidiaries        → 30–60 min (often skipped) </a:t>
            </a:r>
          </a:p>
          <a:p>
            <a:pPr lvl="1"/>
            <a:r>
              <a:rPr lang="en-CA" sz="1200" dirty="0"/>
              <a:t>Pull SEC filings, court records     → 30–60 min</a:t>
            </a:r>
          </a:p>
          <a:p>
            <a:pPr lvl="1"/>
            <a:r>
              <a:rPr lang="en-CA" sz="1200" dirty="0"/>
              <a:t>Synthesise into a written rationale → 30–60 min</a:t>
            </a:r>
          </a:p>
          <a:p>
            <a:pPr lvl="1"/>
            <a:r>
              <a:rPr lang="en-CA" sz="1200" dirty="0"/>
              <a:t>Total per case: 2–4 hours</a:t>
            </a:r>
          </a:p>
          <a:p>
            <a:pPr lvl="1"/>
            <a:r>
              <a:rPr lang="en-CA" sz="1200" dirty="0"/>
              <a:t>Risk: incomplete evidence, missed relationships, undocumented reasoning</a:t>
            </a:r>
          </a:p>
          <a:p>
            <a:endParaRPr lang="en-CA" sz="1400" dirty="0"/>
          </a:p>
        </p:txBody>
      </p:sp>
      <p:graphicFrame>
        <p:nvGraphicFramePr>
          <p:cNvPr id="11" name="Content Placeholder 10">
            <a:extLst>
              <a:ext uri="{FF2B5EF4-FFF2-40B4-BE49-F238E27FC236}">
                <a16:creationId xmlns:a16="http://schemas.microsoft.com/office/drawing/2014/main" id="{5E9DC926-05C7-A616-927A-575878329B22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3984116447"/>
              </p:ext>
            </p:extLst>
          </p:nvPr>
        </p:nvGraphicFramePr>
        <p:xfrm>
          <a:off x="5868016" y="2281497"/>
          <a:ext cx="6019185" cy="2651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06395">
                  <a:extLst>
                    <a:ext uri="{9D8B030D-6E8A-4147-A177-3AD203B41FA5}">
                      <a16:colId xmlns:a16="http://schemas.microsoft.com/office/drawing/2014/main" val="1479894630"/>
                    </a:ext>
                  </a:extLst>
                </a:gridCol>
                <a:gridCol w="2006395">
                  <a:extLst>
                    <a:ext uri="{9D8B030D-6E8A-4147-A177-3AD203B41FA5}">
                      <a16:colId xmlns:a16="http://schemas.microsoft.com/office/drawing/2014/main" val="1993946603"/>
                    </a:ext>
                  </a:extLst>
                </a:gridCol>
                <a:gridCol w="2006395">
                  <a:extLst>
                    <a:ext uri="{9D8B030D-6E8A-4147-A177-3AD203B41FA5}">
                      <a16:colId xmlns:a16="http://schemas.microsoft.com/office/drawing/2014/main" val="684003160"/>
                    </a:ext>
                  </a:extLst>
                </a:gridCol>
              </a:tblGrid>
              <a:tr h="66264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b="1" dirty="0">
                          <a:effectLst/>
                        </a:rPr>
                        <a:t>Approach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b="1" dirty="0">
                          <a:effectLst/>
                        </a:rPr>
                        <a:t>What it misses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b="1">
                          <a:effectLst/>
                        </a:rPr>
                        <a:t>Business consequence</a:t>
                      </a:r>
                    </a:p>
                  </a:txBody>
                  <a:tcPr marL="123825" marR="123825" marT="57150" marB="57150" anchor="ctr"/>
                </a:tc>
                <a:extLst>
                  <a:ext uri="{0D108BD9-81ED-4DB2-BD59-A6C34878D82A}">
                    <a16:rowId xmlns:a16="http://schemas.microsoft.com/office/drawing/2014/main" val="2552407747"/>
                  </a:ext>
                </a:extLst>
              </a:tr>
              <a:tr h="84544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200" dirty="0">
                          <a:effectLst/>
                        </a:rPr>
                        <a:t>Keyword sanctions screening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200" dirty="0">
                          <a:effectLst/>
                        </a:rPr>
                        <a:t>No relationship awareness — "Deripaska" misses "Basic Element" (his holding company)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200">
                          <a:effectLst/>
                        </a:rPr>
                        <a:t>Entities pass screening despite sanctioned ownership</a:t>
                      </a:r>
                    </a:p>
                  </a:txBody>
                  <a:tcPr marL="123825" marR="123825" marT="57150" marB="57150" anchor="ctr"/>
                </a:tc>
                <a:extLst>
                  <a:ext uri="{0D108BD9-81ED-4DB2-BD59-A6C34878D82A}">
                    <a16:rowId xmlns:a16="http://schemas.microsoft.com/office/drawing/2014/main" val="456404078"/>
                  </a:ext>
                </a:extLst>
              </a:tr>
              <a:tr h="47984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200">
                          <a:effectLst/>
                        </a:rPr>
                        <a:t>Vector-only RAG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200" dirty="0">
                          <a:effectLst/>
                        </a:rPr>
                        <a:t>Similarity doesn't encode control or ownership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200" dirty="0">
                          <a:effectLst/>
                        </a:rPr>
                        <a:t>Analyst concludes "low risk" on incomplete evidence</a:t>
                      </a:r>
                    </a:p>
                  </a:txBody>
                  <a:tcPr marL="123825" marR="123825" marT="57150" marB="57150" anchor="ctr"/>
                </a:tc>
                <a:extLst>
                  <a:ext uri="{0D108BD9-81ED-4DB2-BD59-A6C34878D82A}">
                    <a16:rowId xmlns:a16="http://schemas.microsoft.com/office/drawing/2014/main" val="2698961715"/>
                  </a:ext>
                </a:extLst>
              </a:tr>
              <a:tr h="66264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200">
                          <a:effectLst/>
                        </a:rPr>
                        <a:t>Manual graph lookup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200">
                          <a:effectLst/>
                        </a:rPr>
                        <a:t>No document corpus — can't explain </a:t>
                      </a:r>
                      <a:r>
                        <a:rPr lang="en-CA" sz="1200" i="1">
                          <a:effectLst/>
                        </a:rPr>
                        <a:t>why</a:t>
                      </a:r>
                      <a:r>
                        <a:rPr lang="en-CA" sz="1200">
                          <a:effectLst/>
                        </a:rPr>
                        <a:t> an entity is risky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200" dirty="0">
                          <a:effectLst/>
                        </a:rPr>
                        <a:t>Defensible rationale requires manual research anyway</a:t>
                      </a:r>
                    </a:p>
                  </a:txBody>
                  <a:tcPr marL="123825" marR="123825" marT="57150" marB="57150" anchor="ctr"/>
                </a:tc>
                <a:extLst>
                  <a:ext uri="{0D108BD9-81ED-4DB2-BD59-A6C34878D82A}">
                    <a16:rowId xmlns:a16="http://schemas.microsoft.com/office/drawing/2014/main" val="337088767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455515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1C0D9D-DB5E-5AC4-D9B1-B3A5E3E059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2" y="609600"/>
            <a:ext cx="5612362" cy="1456267"/>
          </a:xfrm>
        </p:spPr>
        <p:txBody>
          <a:bodyPr/>
          <a:lstStyle/>
          <a:p>
            <a:r>
              <a:rPr lang="en-CA" b="1" dirty="0"/>
              <a:t>System Architecture - Ingestion Pipeline</a:t>
            </a:r>
            <a:endParaRPr lang="en-CA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C3555CF-5ADF-FADB-1265-D969553884C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56180" y="2099216"/>
            <a:ext cx="5028799" cy="3676433"/>
          </a:xfrm>
        </p:spPr>
        <p:txBody>
          <a:bodyPr/>
          <a:lstStyle/>
          <a:p>
            <a:r>
              <a:rPr lang="en-CA" dirty="0"/>
              <a:t>Production Designs:</a:t>
            </a:r>
          </a:p>
          <a:p>
            <a:pPr lvl="1"/>
            <a:r>
              <a:rPr lang="en-CA" dirty="0"/>
              <a:t>Spark/Flink/</a:t>
            </a:r>
            <a:r>
              <a:rPr lang="en-CA" dirty="0" err="1"/>
              <a:t>KNative</a:t>
            </a:r>
            <a:r>
              <a:rPr lang="en-CA" dirty="0"/>
              <a:t> Eventing Serving on EKS or Managed services with Kafka Intermediatory</a:t>
            </a:r>
          </a:p>
          <a:p>
            <a:pPr lvl="1"/>
            <a:r>
              <a:rPr lang="en-CA" dirty="0"/>
              <a:t>AWS Lambda with AWS SQS Intermediatory</a:t>
            </a:r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D6C3C357-B044-0CBF-EDEA-5AB4DE050E94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7004217" y="194450"/>
            <a:ext cx="3987243" cy="64690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63271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085E88-AD00-1ADA-452D-BD3038BCCE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EFAD81-54E1-FC06-3B63-C43D732518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483" y="298580"/>
            <a:ext cx="7604449" cy="625151"/>
          </a:xfrm>
        </p:spPr>
        <p:txBody>
          <a:bodyPr/>
          <a:lstStyle/>
          <a:p>
            <a:r>
              <a:rPr lang="en-CA" b="1" dirty="0"/>
              <a:t>System Architecture - Agentic Search Services</a:t>
            </a:r>
            <a:endParaRPr lang="en-CA" dirty="0"/>
          </a:p>
        </p:txBody>
      </p:sp>
      <p:pic>
        <p:nvPicPr>
          <p:cNvPr id="12" name="Content Placeholder 11">
            <a:extLst>
              <a:ext uri="{FF2B5EF4-FFF2-40B4-BE49-F238E27FC236}">
                <a16:creationId xmlns:a16="http://schemas.microsoft.com/office/drawing/2014/main" id="{09A8C63D-8227-2610-819D-DE463937A67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20312" y="923731"/>
            <a:ext cx="11351376" cy="57915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79588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6D7F5E-D382-1943-871A-C4D0A4C403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D91BBD-23E3-B799-F207-FFE92A12FF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b="1" dirty="0"/>
              <a:t>Key Decision #1: Graph-First Hybrid Retrieval 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B73132-969B-4D15-1885-849A1E1364C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237830" y="1852818"/>
            <a:ext cx="9027365" cy="4184088"/>
          </a:xfrm>
        </p:spPr>
        <p:txBody>
          <a:bodyPr>
            <a:normAutofit fontScale="92500" lnSpcReduction="10000"/>
          </a:bodyPr>
          <a:lstStyle/>
          <a:p>
            <a:r>
              <a:rPr lang="en-CA" b="1" dirty="0"/>
              <a:t>Graph-first retrieval pipeline</a:t>
            </a:r>
          </a:p>
          <a:p>
            <a:pPr lvl="1"/>
            <a:r>
              <a:rPr lang="en-CA" dirty="0"/>
              <a:t>Stage 1 catches sanctions records. </a:t>
            </a:r>
          </a:p>
          <a:p>
            <a:pPr lvl="1"/>
            <a:r>
              <a:rPr lang="en-CA" dirty="0"/>
              <a:t>Stage 2 catches documents that mention related entities but aren't linked in the graph. </a:t>
            </a:r>
          </a:p>
          <a:p>
            <a:pPr lvl="1"/>
            <a:r>
              <a:rPr lang="en-CA" dirty="0"/>
              <a:t>Stage 3 catches news and procurement that has no graph node at all. Each stage adds evidence quality.</a:t>
            </a:r>
          </a:p>
          <a:p>
            <a:r>
              <a:rPr lang="en-CA" b="1" dirty="0"/>
              <a:t>Chunking strategy</a:t>
            </a:r>
          </a:p>
          <a:p>
            <a:pPr lvl="1"/>
            <a:r>
              <a:rPr lang="en-CA" b="1" dirty="0"/>
              <a:t>1200-char chunks, 200-char overlap</a:t>
            </a:r>
            <a:r>
              <a:rPr lang="en-CA" dirty="0"/>
              <a:t> — tuned to preserve sentence boundaries in legal and regulatory language; smaller chunks hurt </a:t>
            </a:r>
            <a:r>
              <a:rPr lang="en-CA" dirty="0" err="1"/>
              <a:t>context_recall</a:t>
            </a:r>
            <a:r>
              <a:rPr lang="en-CA" dirty="0"/>
              <a:t> on multi-part questions</a:t>
            </a:r>
          </a:p>
          <a:p>
            <a:pPr lvl="1"/>
            <a:r>
              <a:rPr lang="en-CA" b="1" dirty="0"/>
              <a:t>Synthetic profile documents</a:t>
            </a:r>
            <a:r>
              <a:rPr lang="en-CA" dirty="0"/>
              <a:t> — for each entity, a structured summary doc is indexed separately from raw source chunks; this gives retrieval a high-signal anchor</a:t>
            </a:r>
          </a:p>
          <a:p>
            <a:pPr lvl="1"/>
            <a:r>
              <a:rPr lang="en-CA" b="1" dirty="0" err="1"/>
              <a:t>entity_ids</a:t>
            </a:r>
            <a:r>
              <a:rPr lang="en-CA" b="1" dirty="0"/>
              <a:t> field</a:t>
            </a:r>
            <a:r>
              <a:rPr lang="en-CA" dirty="0"/>
              <a:t> — every chunk stores a list of resolved entity IDs at index time, enabling Stage 2 entity-filtered hybrid search without a post-filter </a:t>
            </a:r>
            <a:r>
              <a:rPr lang="en-CA" dirty="0" err="1"/>
              <a:t>rerank</a:t>
            </a:r>
            <a:endParaRPr lang="en-CA" dirty="0"/>
          </a:p>
          <a:p>
            <a:pPr lvl="1"/>
            <a:endParaRPr lang="en-CA" dirty="0"/>
          </a:p>
          <a:p>
            <a:pPr marL="457200" lvl="1" indent="0">
              <a:buNone/>
            </a:pPr>
            <a:r>
              <a:rPr lang="en-CA" dirty="0"/>
              <a:t>Link: </a:t>
            </a:r>
            <a:r>
              <a:rPr lang="en-CA" dirty="0">
                <a:hlinkClick r:id="rId2"/>
              </a:rPr>
              <a:t>https://github.com/swamx/FinAgent/blob/main/docs/Demo.md#architecture-at-a-glance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4284375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2C0B10-B205-5684-FCE5-418A0CEE74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CA" b="1" dirty="0"/>
              <a:t>Key Decision #2: Agent Design &amp; Engineering Challenges</a:t>
            </a:r>
            <a:endParaRPr lang="en-CA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2A3EA6F-5E20-FDED-5771-EB282E1E62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CA" b="1" dirty="0"/>
              <a:t>Framework choice: </a:t>
            </a:r>
            <a:r>
              <a:rPr lang="en-CA" b="1" dirty="0" err="1"/>
              <a:t>PydanticAI</a:t>
            </a:r>
            <a:r>
              <a:rPr lang="en-CA" b="1" dirty="0"/>
              <a:t> over </a:t>
            </a:r>
            <a:r>
              <a:rPr lang="en-CA" b="1" dirty="0" err="1"/>
              <a:t>LangChain</a:t>
            </a:r>
            <a:endParaRPr lang="en-CA" b="1" dirty="0"/>
          </a:p>
          <a:p>
            <a:pPr lvl="1"/>
            <a:r>
              <a:rPr lang="en-CA" dirty="0"/>
              <a:t>The agent is ~60 lines. Zero chains, zero memory objects, no LCEL.</a:t>
            </a:r>
          </a:p>
          <a:p>
            <a:pPr lvl="1"/>
            <a:r>
              <a:rPr lang="en-CA" dirty="0" err="1"/>
              <a:t>LangChain's</a:t>
            </a:r>
            <a:r>
              <a:rPr lang="en-CA" dirty="0"/>
              <a:t> abstractions add surface area without adding capability at this scale. </a:t>
            </a:r>
            <a:r>
              <a:rPr lang="en-CA" b="1" dirty="0"/>
              <a:t>The signal isn't which framework won — it's knowing when a framework adds accidental complexity rather than essential capability.</a:t>
            </a:r>
            <a:endParaRPr lang="en-CA" dirty="0"/>
          </a:p>
          <a:p>
            <a:pPr lvl="1"/>
            <a:r>
              <a:rPr lang="en-CA" dirty="0" err="1"/>
              <a:t>PydanticAI</a:t>
            </a:r>
            <a:r>
              <a:rPr lang="en-CA" dirty="0"/>
              <a:t> gave type-safe dependency injection, native async, and a </a:t>
            </a:r>
            <a:r>
              <a:rPr lang="en-CA" dirty="0" err="1"/>
              <a:t>Pydantic</a:t>
            </a:r>
            <a:r>
              <a:rPr lang="en-CA" dirty="0"/>
              <a:t>-validated tool signature. That was sufficient.</a:t>
            </a:r>
          </a:p>
          <a:p>
            <a:r>
              <a:rPr lang="en-CA" b="1" dirty="0"/>
              <a:t>Circuit breakers on every external boundary</a:t>
            </a:r>
          </a:p>
          <a:p>
            <a:pPr lvl="2"/>
            <a:r>
              <a:rPr lang="en-CA" dirty="0" err="1"/>
              <a:t>LiteLLM</a:t>
            </a:r>
            <a:r>
              <a:rPr lang="en-CA" dirty="0"/>
              <a:t> (LLM calls)   </a:t>
            </a:r>
            <a:r>
              <a:rPr lang="en-CA" dirty="0" err="1"/>
              <a:t>fail_max</a:t>
            </a:r>
            <a:r>
              <a:rPr lang="en-CA" dirty="0"/>
              <a:t>=3  timeout=60s</a:t>
            </a:r>
          </a:p>
          <a:p>
            <a:pPr lvl="2"/>
            <a:r>
              <a:rPr lang="en-CA" dirty="0"/>
              <a:t>OpenSearch               </a:t>
            </a:r>
            <a:r>
              <a:rPr lang="en-CA" dirty="0" err="1"/>
              <a:t>fail_max</a:t>
            </a:r>
            <a:r>
              <a:rPr lang="en-CA" dirty="0"/>
              <a:t>=5  timeout=30s</a:t>
            </a:r>
          </a:p>
          <a:p>
            <a:pPr lvl="2"/>
            <a:r>
              <a:rPr lang="en-CA" dirty="0" err="1"/>
              <a:t>FalkorDB</a:t>
            </a:r>
            <a:r>
              <a:rPr lang="en-CA" dirty="0"/>
              <a:t>                     </a:t>
            </a:r>
            <a:r>
              <a:rPr lang="en-CA" dirty="0" err="1"/>
              <a:t>fail_max</a:t>
            </a:r>
            <a:r>
              <a:rPr lang="en-CA" dirty="0"/>
              <a:t>=5  timeout=30s</a:t>
            </a:r>
          </a:p>
          <a:p>
            <a:pPr lvl="1"/>
            <a:r>
              <a:rPr lang="en-CA" b="1" dirty="0"/>
              <a:t>Why this matters for compliance:</a:t>
            </a:r>
            <a:r>
              <a:rPr lang="en-CA" dirty="0"/>
              <a:t> A circuit breaker on the LLM boundary means a model service outage degrades gracefully — the API returns a structured error rather than leaving the analyst waiting on a hung request.</a:t>
            </a:r>
          </a:p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2901265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E12467-4FB4-CFDC-D66B-6C02670527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b="1" dirty="0"/>
              <a:t>Key Decision #2: </a:t>
            </a:r>
            <a:r>
              <a:rPr lang="en-CA" dirty="0"/>
              <a:t>Agent Design – Issues &amp; Fixes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BBD9A5-7F3F-0516-1D96-B135D9A12F5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85801" y="1656875"/>
            <a:ext cx="6237513" cy="4715933"/>
          </a:xfrm>
        </p:spPr>
        <p:txBody>
          <a:bodyPr>
            <a:noAutofit/>
          </a:bodyPr>
          <a:lstStyle/>
          <a:p>
            <a:pPr>
              <a:lnSpc>
                <a:spcPct val="80000"/>
              </a:lnSpc>
            </a:pPr>
            <a:r>
              <a:rPr lang="en-US" sz="1200" dirty="0"/>
              <a:t>Preventing infinite tool loops</a:t>
            </a:r>
          </a:p>
          <a:p>
            <a:pPr lvl="1">
              <a:lnSpc>
                <a:spcPct val="80000"/>
              </a:lnSpc>
            </a:pPr>
            <a:r>
              <a:rPr lang="en-US" sz="1200" dirty="0"/>
              <a:t>Problem encountered in testing:</a:t>
            </a:r>
          </a:p>
          <a:p>
            <a:pPr lvl="1">
              <a:lnSpc>
                <a:spcPct val="80000"/>
              </a:lnSpc>
            </a:pPr>
            <a:r>
              <a:rPr lang="en-US" sz="1200" dirty="0" err="1"/>
              <a:t>expand_entity</a:t>
            </a:r>
            <a:r>
              <a:rPr lang="en-US" sz="1200" dirty="0"/>
              <a:t>("unknown </a:t>
            </a:r>
            <a:r>
              <a:rPr lang="en-US" sz="1200" dirty="0" err="1"/>
              <a:t>corp</a:t>
            </a:r>
            <a:r>
              <a:rPr lang="en-US" sz="1200" dirty="0"/>
              <a:t>") → returns "[]"</a:t>
            </a:r>
          </a:p>
          <a:p>
            <a:pPr lvl="1">
              <a:lnSpc>
                <a:spcPct val="80000"/>
              </a:lnSpc>
            </a:pPr>
            <a:r>
              <a:rPr lang="en-US" sz="1200" dirty="0"/>
              <a:t>LLM interpretation: "tool returned empty, try different query"</a:t>
            </a:r>
          </a:p>
          <a:p>
            <a:pPr lvl="1">
              <a:lnSpc>
                <a:spcPct val="80000"/>
              </a:lnSpc>
            </a:pPr>
            <a:r>
              <a:rPr lang="en-US" sz="1200" dirty="0"/>
              <a:t>LLM action: retries </a:t>
            </a:r>
            <a:r>
              <a:rPr lang="en-US" sz="1200" dirty="0" err="1"/>
              <a:t>expand_entity</a:t>
            </a:r>
            <a:r>
              <a:rPr lang="en-US" sz="1200" dirty="0"/>
              <a:t> 20+ times before timeout</a:t>
            </a:r>
          </a:p>
          <a:p>
            <a:pPr lvl="1">
              <a:lnSpc>
                <a:spcPct val="80000"/>
              </a:lnSpc>
            </a:pPr>
            <a:r>
              <a:rPr lang="en-US" sz="1200" dirty="0"/>
              <a:t>Effect: 20× latency, cost spike, no answer</a:t>
            </a:r>
          </a:p>
          <a:p>
            <a:pPr lvl="1">
              <a:lnSpc>
                <a:spcPct val="80000"/>
              </a:lnSpc>
            </a:pPr>
            <a:r>
              <a:rPr lang="en-US" sz="1200" dirty="0"/>
              <a:t>Why this happens: An LLM reads "[]" as "no results yet" — it has no prior instruction telling it that an empty graph response is terminal, not </a:t>
            </a:r>
            <a:r>
              <a:rPr lang="en-US" sz="1200" dirty="0" err="1"/>
              <a:t>retryable</a:t>
            </a:r>
            <a:r>
              <a:rPr lang="en-US" sz="1200" dirty="0"/>
              <a:t>.</a:t>
            </a:r>
          </a:p>
          <a:p>
            <a:pPr lvl="1">
              <a:lnSpc>
                <a:spcPct val="80000"/>
              </a:lnSpc>
            </a:pPr>
            <a:endParaRPr lang="en-US" sz="1200" dirty="0"/>
          </a:p>
          <a:p>
            <a:pPr lvl="1">
              <a:lnSpc>
                <a:spcPct val="80000"/>
              </a:lnSpc>
            </a:pPr>
            <a:r>
              <a:rPr lang="en-US" sz="1200" dirty="0"/>
              <a:t>This was an easy fix honestly kept it here because a similar bug in Claude Opus 4.7 existed which impacted us and increased usage for queries which had non-English non-noun words [</a:t>
            </a:r>
            <a:r>
              <a:rPr lang="en-US" sz="1200" dirty="0">
                <a:hlinkClick r:id="rId2"/>
              </a:rPr>
              <a:t>Reddit-</a:t>
            </a:r>
            <a:r>
              <a:rPr lang="en-US" sz="1200" dirty="0" err="1">
                <a:hlinkClick r:id="rId2"/>
              </a:rPr>
              <a:t>ClaudeBug</a:t>
            </a:r>
            <a:r>
              <a:rPr lang="en-US" sz="1200" dirty="0"/>
              <a:t>]</a:t>
            </a:r>
          </a:p>
          <a:p>
            <a:pPr>
              <a:lnSpc>
                <a:spcPct val="80000"/>
              </a:lnSpc>
            </a:pPr>
            <a:r>
              <a:rPr lang="en-US" sz="1200" dirty="0"/>
              <a:t>Three-layer fix:</a:t>
            </a:r>
          </a:p>
          <a:p>
            <a:pPr lvl="1">
              <a:lnSpc>
                <a:spcPct val="80000"/>
              </a:lnSpc>
            </a:pPr>
            <a:r>
              <a:rPr lang="en-US" sz="1200" dirty="0"/>
              <a:t>Fix 1 — Return a natural-language message, not an empty list:</a:t>
            </a:r>
          </a:p>
          <a:p>
            <a:pPr lvl="2">
              <a:lnSpc>
                <a:spcPct val="80000"/>
              </a:lnSpc>
            </a:pPr>
            <a:r>
              <a:rPr lang="en-US" sz="1200" dirty="0"/>
              <a:t>  "Entity not found in knowledge graph. Do not retry this tool.</a:t>
            </a:r>
          </a:p>
          <a:p>
            <a:pPr lvl="2">
              <a:lnSpc>
                <a:spcPct val="80000"/>
              </a:lnSpc>
            </a:pPr>
            <a:r>
              <a:rPr lang="en-US" sz="1200" dirty="0"/>
              <a:t>   Use </a:t>
            </a:r>
            <a:r>
              <a:rPr lang="en-US" sz="1200" dirty="0" err="1"/>
              <a:t>search_documents</a:t>
            </a:r>
            <a:r>
              <a:rPr lang="en-US" sz="1200" dirty="0"/>
              <a:t> instead to find relevant evidence."</a:t>
            </a:r>
          </a:p>
          <a:p>
            <a:pPr lvl="1">
              <a:lnSpc>
                <a:spcPct val="80000"/>
              </a:lnSpc>
            </a:pPr>
            <a:r>
              <a:rPr lang="en-US" sz="1200" dirty="0"/>
              <a:t>Fix 2 — Hard usage cap:</a:t>
            </a:r>
          </a:p>
          <a:p>
            <a:pPr lvl="1">
              <a:lnSpc>
                <a:spcPct val="80000"/>
              </a:lnSpc>
            </a:pPr>
            <a:r>
              <a:rPr lang="en-US" sz="1200" dirty="0"/>
              <a:t>  	</a:t>
            </a:r>
            <a:r>
              <a:rPr lang="en-US" sz="1200" dirty="0" err="1"/>
              <a:t>UsageLimits</a:t>
            </a:r>
            <a:r>
              <a:rPr lang="en-US" sz="1200" dirty="0"/>
              <a:t>(</a:t>
            </a:r>
            <a:r>
              <a:rPr lang="en-US" sz="1200" dirty="0" err="1"/>
              <a:t>request_limit</a:t>
            </a:r>
            <a:r>
              <a:rPr lang="en-US" sz="1200" dirty="0"/>
              <a:t>=8) → raises </a:t>
            </a:r>
            <a:r>
              <a:rPr lang="en-US" sz="1200" dirty="0" err="1"/>
              <a:t>UsageLimitExceeded</a:t>
            </a:r>
            <a:r>
              <a:rPr lang="en-US" sz="1200" dirty="0"/>
              <a:t> at turn 8</a:t>
            </a:r>
          </a:p>
          <a:p>
            <a:pPr lvl="1">
              <a:lnSpc>
                <a:spcPct val="80000"/>
              </a:lnSpc>
            </a:pPr>
            <a:r>
              <a:rPr lang="en-US" sz="1200" dirty="0"/>
              <a:t>Fix 3 — Explicit fallback order in system prompt:</a:t>
            </a:r>
          </a:p>
          <a:p>
            <a:pPr lvl="2">
              <a:lnSpc>
                <a:spcPct val="80000"/>
              </a:lnSpc>
            </a:pPr>
            <a:r>
              <a:rPr lang="en-US" sz="1200" dirty="0"/>
              <a:t>  </a:t>
            </a:r>
            <a:r>
              <a:rPr lang="en-US" sz="1200" dirty="0" err="1"/>
              <a:t>expand_entity</a:t>
            </a:r>
            <a:r>
              <a:rPr lang="en-US" sz="1200" dirty="0"/>
              <a:t> → </a:t>
            </a:r>
            <a:r>
              <a:rPr lang="en-US" sz="1200" dirty="0" err="1"/>
              <a:t>search_documents</a:t>
            </a:r>
            <a:r>
              <a:rPr lang="en-US" sz="1200" dirty="0"/>
              <a:t> → </a:t>
            </a:r>
            <a:r>
              <a:rPr lang="en-US" sz="1200" dirty="0" err="1"/>
              <a:t>get_exposure</a:t>
            </a:r>
            <a:r>
              <a:rPr lang="en-US" sz="1200" dirty="0"/>
              <a:t> → conclude</a:t>
            </a:r>
          </a:p>
          <a:p>
            <a:pPr lvl="2">
              <a:lnSpc>
                <a:spcPct val="80000"/>
              </a:lnSpc>
            </a:pPr>
            <a:r>
              <a:rPr lang="en-US" sz="1200" dirty="0"/>
              <a:t>  (if a tool returns a not-found message, proceed to next stage)</a:t>
            </a:r>
            <a:endParaRPr lang="en-CA" sz="12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2A1D400-FA04-BC2D-11AA-4C47A496FB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00529" y="2065867"/>
            <a:ext cx="4080315" cy="25190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99665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A8E0FF-6B11-6C92-25CF-A7F69476AF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Demo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8D521E04-A90F-427F-B4A9-1636E32578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1703" y="527871"/>
            <a:ext cx="9063071" cy="3649133"/>
          </a:xfrm>
        </p:spPr>
        <p:txBody>
          <a:bodyPr>
            <a:normAutofit/>
          </a:bodyPr>
          <a:lstStyle/>
          <a:p>
            <a:r>
              <a:rPr lang="en-CA" b="1" dirty="0"/>
              <a:t>Scenario 1: Sanctioned entity with graph expansion</a:t>
            </a:r>
          </a:p>
          <a:p>
            <a:r>
              <a:rPr lang="en-CA" b="1" dirty="0"/>
              <a:t>Scenario 2: Procurement cross-reference</a:t>
            </a:r>
          </a:p>
          <a:p>
            <a:r>
              <a:rPr lang="en-US" b="1" dirty="0"/>
              <a:t>Scenario 3: Hallucination trap — the trust test</a:t>
            </a:r>
            <a:endParaRPr lang="en-CA" b="1" dirty="0"/>
          </a:p>
        </p:txBody>
      </p:sp>
    </p:spTree>
    <p:extLst>
      <p:ext uri="{BB962C8B-B14F-4D97-AF65-F5344CB8AC3E}">
        <p14:creationId xmlns:p14="http://schemas.microsoft.com/office/powerpoint/2010/main" val="19367699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352D90-2906-0B19-6A2A-F2827A9B91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66B797-23B7-E0BF-5B1B-7FB95777DEC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85802" y="2142067"/>
            <a:ext cx="9736492" cy="3649134"/>
          </a:xfrm>
        </p:spPr>
        <p:txBody>
          <a:bodyPr>
            <a:normAutofit/>
          </a:bodyPr>
          <a:lstStyle/>
          <a:p>
            <a:r>
              <a:rPr lang="en-CA" dirty="0"/>
              <a:t>The system is designed around one question:</a:t>
            </a:r>
          </a:p>
          <a:p>
            <a:pPr marL="0" indent="0">
              <a:buNone/>
            </a:pPr>
            <a:r>
              <a:rPr lang="en-CA" b="1" dirty="0"/>
              <a:t>		"Can a compliance professional trust this answer enough to act on it?“</a:t>
            </a:r>
          </a:p>
          <a:p>
            <a:pPr marL="0" indent="0">
              <a:buNone/>
            </a:pPr>
            <a:endParaRPr lang="en-CA" dirty="0"/>
          </a:p>
          <a:p>
            <a:r>
              <a:rPr lang="en-CA" dirty="0"/>
              <a:t>Trust requires </a:t>
            </a:r>
          </a:p>
          <a:p>
            <a:pPr lvl="1"/>
            <a:r>
              <a:rPr lang="en-CA" b="1" dirty="0"/>
              <a:t>sourced evidence</a:t>
            </a:r>
            <a:r>
              <a:rPr lang="en-CA" dirty="0"/>
              <a:t> — every answer cites a document</a:t>
            </a:r>
          </a:p>
          <a:p>
            <a:pPr lvl="1"/>
            <a:r>
              <a:rPr lang="en-CA" b="1" dirty="0"/>
              <a:t>complete evidence</a:t>
            </a:r>
            <a:r>
              <a:rPr lang="en-CA" dirty="0"/>
              <a:t> — graph expansion surfaces relationships vector search misses</a:t>
            </a:r>
          </a:p>
          <a:p>
            <a:pPr lvl="1"/>
            <a:r>
              <a:rPr lang="en-CA" b="1" dirty="0"/>
              <a:t>honest uncertainty</a:t>
            </a:r>
            <a:r>
              <a:rPr lang="en-CA" dirty="0"/>
              <a:t> — hallucination detection refuses out-of-scope queries</a:t>
            </a:r>
          </a:p>
          <a:p>
            <a:pPr lvl="1"/>
            <a:r>
              <a:rPr lang="en-CA" b="1" dirty="0"/>
              <a:t>auditability</a:t>
            </a:r>
            <a:r>
              <a:rPr lang="en-CA" dirty="0"/>
              <a:t> — </a:t>
            </a:r>
            <a:r>
              <a:rPr lang="en-CA" dirty="0" err="1"/>
              <a:t>OTel</a:t>
            </a:r>
            <a:r>
              <a:rPr lang="en-CA" dirty="0"/>
              <a:t> traces every call; eval scores are live metrics, not snapshots</a:t>
            </a:r>
          </a:p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4751107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064476-DE5A-58FB-7030-4698B0EFA8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b="1" dirty="0"/>
              <a:t>APPENDIX — Tech Stack</a:t>
            </a:r>
            <a:endParaRPr lang="en-CA" dirty="0"/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3A66E636-D4E7-C537-F91A-BEAB5D0017F3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2811645681"/>
              </p:ext>
            </p:extLst>
          </p:nvPr>
        </p:nvGraphicFramePr>
        <p:xfrm>
          <a:off x="1021704" y="2065867"/>
          <a:ext cx="9391260" cy="422676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43631">
                  <a:extLst>
                    <a:ext uri="{9D8B030D-6E8A-4147-A177-3AD203B41FA5}">
                      <a16:colId xmlns:a16="http://schemas.microsoft.com/office/drawing/2014/main" val="3834470329"/>
                    </a:ext>
                  </a:extLst>
                </a:gridCol>
                <a:gridCol w="2365704">
                  <a:extLst>
                    <a:ext uri="{9D8B030D-6E8A-4147-A177-3AD203B41FA5}">
                      <a16:colId xmlns:a16="http://schemas.microsoft.com/office/drawing/2014/main" val="1065339906"/>
                    </a:ext>
                  </a:extLst>
                </a:gridCol>
                <a:gridCol w="4781925">
                  <a:extLst>
                    <a:ext uri="{9D8B030D-6E8A-4147-A177-3AD203B41FA5}">
                      <a16:colId xmlns:a16="http://schemas.microsoft.com/office/drawing/2014/main" val="1242589423"/>
                    </a:ext>
                  </a:extLst>
                </a:gridCol>
              </a:tblGrid>
              <a:tr h="34288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200" b="1" dirty="0">
                          <a:effectLst/>
                        </a:rPr>
                        <a:t>Layer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200" b="1">
                          <a:effectLst/>
                        </a:rPr>
                        <a:t>Technology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200" b="1" dirty="0">
                          <a:effectLst/>
                        </a:rPr>
                        <a:t>Decision rationale</a:t>
                      </a:r>
                    </a:p>
                  </a:txBody>
                  <a:tcPr marL="123825" marR="123825" marT="57150" marB="57150" anchor="ctr"/>
                </a:tc>
                <a:extLst>
                  <a:ext uri="{0D108BD9-81ED-4DB2-BD59-A6C34878D82A}">
                    <a16:rowId xmlns:a16="http://schemas.microsoft.com/office/drawing/2014/main" val="1055906607"/>
                  </a:ext>
                </a:extLst>
              </a:tr>
              <a:tr h="26899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200">
                          <a:effectLst/>
                        </a:rPr>
                        <a:t>Agent framework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200">
                          <a:effectLst/>
                        </a:rPr>
                        <a:t>PydanticAI 0.4.2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200">
                          <a:effectLst/>
                        </a:rPr>
                        <a:t>Minimal surface area; type-safe deps; ~60 lines</a:t>
                      </a:r>
                    </a:p>
                  </a:txBody>
                  <a:tcPr marL="123825" marR="123825" marT="57150" marB="57150" anchor="ctr"/>
                </a:tc>
                <a:extLst>
                  <a:ext uri="{0D108BD9-81ED-4DB2-BD59-A6C34878D82A}">
                    <a16:rowId xmlns:a16="http://schemas.microsoft.com/office/drawing/2014/main" val="1737655518"/>
                  </a:ext>
                </a:extLst>
              </a:tr>
              <a:tr h="2600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200" dirty="0">
                          <a:effectLst/>
                        </a:rPr>
                        <a:t>LLM gateway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200">
                          <a:effectLst/>
                        </a:rPr>
                        <a:t>LiteLLM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200">
                          <a:effectLst/>
                        </a:rPr>
                        <a:t>Single boundary; vendor-agnostic; one env var swap</a:t>
                      </a:r>
                    </a:p>
                  </a:txBody>
                  <a:tcPr marL="123825" marR="123825" marT="57150" marB="57150" anchor="ctr"/>
                </a:tc>
                <a:extLst>
                  <a:ext uri="{0D108BD9-81ED-4DB2-BD59-A6C34878D82A}">
                    <a16:rowId xmlns:a16="http://schemas.microsoft.com/office/drawing/2014/main" val="2921892376"/>
                  </a:ext>
                </a:extLst>
              </a:tr>
              <a:tr h="27105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200" dirty="0">
                          <a:effectLst/>
                        </a:rPr>
                        <a:t>Chat model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200">
                          <a:effectLst/>
                        </a:rPr>
                        <a:t>Qwen3-4B (Ollama)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200">
                          <a:effectLst/>
                        </a:rPr>
                        <a:t>Local, data sovereign, 4GB VRAM, Apache 2.0</a:t>
                      </a:r>
                    </a:p>
                  </a:txBody>
                  <a:tcPr marL="123825" marR="123825" marT="57150" marB="57150" anchor="ctr"/>
                </a:tc>
                <a:extLst>
                  <a:ext uri="{0D108BD9-81ED-4DB2-BD59-A6C34878D82A}">
                    <a16:rowId xmlns:a16="http://schemas.microsoft.com/office/drawing/2014/main" val="4001117418"/>
                  </a:ext>
                </a:extLst>
              </a:tr>
              <a:tr h="2600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200" dirty="0">
                          <a:effectLst/>
                        </a:rPr>
                        <a:t>Embedding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200" dirty="0">
                          <a:effectLst/>
                        </a:rPr>
                        <a:t>nomic-embed-text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200">
                          <a:effectLst/>
                        </a:rPr>
                        <a:t>Local 768-dim; no API key; on-prem data retention</a:t>
                      </a:r>
                    </a:p>
                  </a:txBody>
                  <a:tcPr marL="123825" marR="123825" marT="57150" marB="57150" anchor="ctr"/>
                </a:tc>
                <a:extLst>
                  <a:ext uri="{0D108BD9-81ED-4DB2-BD59-A6C34878D82A}">
                    <a16:rowId xmlns:a16="http://schemas.microsoft.com/office/drawing/2014/main" val="2542640510"/>
                  </a:ext>
                </a:extLst>
              </a:tr>
              <a:tr h="29513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200">
                          <a:effectLst/>
                        </a:rPr>
                        <a:t>Knowledge graph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200">
                          <a:effectLst/>
                        </a:rPr>
                        <a:t>FalkorDB (RedisGraph fork)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200">
                          <a:effectLst/>
                        </a:rPr>
                        <a:t>Cypher queries; Redis wire protocol; low-latency traversal</a:t>
                      </a:r>
                    </a:p>
                  </a:txBody>
                  <a:tcPr marL="123825" marR="123825" marT="57150" marB="57150" anchor="ctr"/>
                </a:tc>
                <a:extLst>
                  <a:ext uri="{0D108BD9-81ED-4DB2-BD59-A6C34878D82A}">
                    <a16:rowId xmlns:a16="http://schemas.microsoft.com/office/drawing/2014/main" val="787363493"/>
                  </a:ext>
                </a:extLst>
              </a:tr>
              <a:tr h="27512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200">
                          <a:effectLst/>
                        </a:rPr>
                        <a:t>Vector store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200">
                          <a:effectLst/>
                        </a:rPr>
                        <a:t>OpenSearch 2.13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200">
                          <a:effectLst/>
                        </a:rPr>
                        <a:t>BM25 + kNN hybrid; nmslib/cosinesimil; entity_ids filter</a:t>
                      </a:r>
                    </a:p>
                  </a:txBody>
                  <a:tcPr marL="123825" marR="123825" marT="57150" marB="57150" anchor="ctr"/>
                </a:tc>
                <a:extLst>
                  <a:ext uri="{0D108BD9-81ED-4DB2-BD59-A6C34878D82A}">
                    <a16:rowId xmlns:a16="http://schemas.microsoft.com/office/drawing/2014/main" val="44520442"/>
                  </a:ext>
                </a:extLst>
              </a:tr>
              <a:tr h="2600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200" dirty="0">
                          <a:effectLst/>
                        </a:rPr>
                        <a:t>NER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200">
                          <a:effectLst/>
                        </a:rPr>
                        <a:t>spaCy + GLiNER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200">
                          <a:effectLst/>
                        </a:rPr>
                        <a:t>Hybrid: GLiNER preferred on span overlap at 0.45 threshold</a:t>
                      </a:r>
                    </a:p>
                  </a:txBody>
                  <a:tcPr marL="123825" marR="123825" marT="57150" marB="57150" anchor="ctr"/>
                </a:tc>
                <a:extLst>
                  <a:ext uri="{0D108BD9-81ED-4DB2-BD59-A6C34878D82A}">
                    <a16:rowId xmlns:a16="http://schemas.microsoft.com/office/drawing/2014/main" val="2833790418"/>
                  </a:ext>
                </a:extLst>
              </a:tr>
              <a:tr h="2600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200">
                          <a:effectLst/>
                        </a:rPr>
                        <a:t>Entity resolution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200">
                          <a:effectLst/>
                        </a:rPr>
                        <a:t>RapidFuzz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200">
                          <a:effectLst/>
                        </a:rPr>
                        <a:t>token_sort_ratio at 85% threshold for name variant matching</a:t>
                      </a:r>
                    </a:p>
                  </a:txBody>
                  <a:tcPr marL="123825" marR="123825" marT="57150" marB="57150" anchor="ctr"/>
                </a:tc>
                <a:extLst>
                  <a:ext uri="{0D108BD9-81ED-4DB2-BD59-A6C34878D82A}">
                    <a16:rowId xmlns:a16="http://schemas.microsoft.com/office/drawing/2014/main" val="3516273661"/>
                  </a:ext>
                </a:extLst>
              </a:tr>
              <a:tr h="26614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200">
                          <a:effectLst/>
                        </a:rPr>
                        <a:t>Observability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200">
                          <a:effectLst/>
                        </a:rPr>
                        <a:t>grafana/otel-lgtm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200">
                          <a:effectLst/>
                        </a:rPr>
                        <a:t>OTel → Tempo + Prometheus + Loki; 4 pre-built dashboards</a:t>
                      </a:r>
                    </a:p>
                  </a:txBody>
                  <a:tcPr marL="123825" marR="123825" marT="57150" marB="57150" anchor="ctr"/>
                </a:tc>
                <a:extLst>
                  <a:ext uri="{0D108BD9-81ED-4DB2-BD59-A6C34878D82A}">
                    <a16:rowId xmlns:a16="http://schemas.microsoft.com/office/drawing/2014/main" val="2907221712"/>
                  </a:ext>
                </a:extLst>
              </a:tr>
              <a:tr h="2600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200">
                          <a:effectLst/>
                        </a:rPr>
                        <a:t>Eval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200">
                          <a:effectLst/>
                        </a:rPr>
                        <a:t>RAGAS + LLM-as-judge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200">
                          <a:effectLst/>
                        </a:rPr>
                        <a:t>Faithfulness/relevancy/precision/recall + groundedness 0–1</a:t>
                      </a:r>
                    </a:p>
                  </a:txBody>
                  <a:tcPr marL="123825" marR="123825" marT="57150" marB="57150" anchor="ctr"/>
                </a:tc>
                <a:extLst>
                  <a:ext uri="{0D108BD9-81ED-4DB2-BD59-A6C34878D82A}">
                    <a16:rowId xmlns:a16="http://schemas.microsoft.com/office/drawing/2014/main" val="4056890313"/>
                  </a:ext>
                </a:extLst>
              </a:tr>
              <a:tr h="29513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200">
                          <a:effectLst/>
                        </a:rPr>
                        <a:t>Rate limiting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200" dirty="0" err="1">
                          <a:effectLst/>
                        </a:rPr>
                        <a:t>slowapi</a:t>
                      </a:r>
                      <a:endParaRPr lang="en-CA" sz="1200" dirty="0">
                        <a:effectLst/>
                      </a:endParaRP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200">
                          <a:effectLst/>
                        </a:rPr>
                        <a:t>Per-IP: 10/min chat, 60/min search; 429 + Retry-After</a:t>
                      </a:r>
                    </a:p>
                  </a:txBody>
                  <a:tcPr marL="123825" marR="123825" marT="57150" marB="57150" anchor="ctr"/>
                </a:tc>
                <a:extLst>
                  <a:ext uri="{0D108BD9-81ED-4DB2-BD59-A6C34878D82A}">
                    <a16:rowId xmlns:a16="http://schemas.microsoft.com/office/drawing/2014/main" val="681214264"/>
                  </a:ext>
                </a:extLst>
              </a:tr>
              <a:tr h="2600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200">
                          <a:effectLst/>
                        </a:rPr>
                        <a:t>Circuit breakers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200">
                          <a:effectLst/>
                        </a:rPr>
                        <a:t>aiobreaker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200">
                          <a:effectLst/>
                        </a:rPr>
                        <a:t>8 breakers on all external dependencies</a:t>
                      </a:r>
                    </a:p>
                  </a:txBody>
                  <a:tcPr marL="123825" marR="123825" marT="57150" marB="57150" anchor="ctr"/>
                </a:tc>
                <a:extLst>
                  <a:ext uri="{0D108BD9-81ED-4DB2-BD59-A6C34878D82A}">
                    <a16:rowId xmlns:a16="http://schemas.microsoft.com/office/drawing/2014/main" val="2642400145"/>
                  </a:ext>
                </a:extLst>
              </a:tr>
              <a:tr h="31771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200" dirty="0">
                          <a:effectLst/>
                        </a:rPr>
                        <a:t>API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200">
                          <a:effectLst/>
                        </a:rPr>
                        <a:t>FastAPI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200" dirty="0">
                          <a:effectLst/>
                        </a:rPr>
                        <a:t>Three routers: /chat, /entity, /search</a:t>
                      </a:r>
                    </a:p>
                  </a:txBody>
                  <a:tcPr marL="123825" marR="123825" marT="57150" marB="57150" anchor="ctr"/>
                </a:tc>
                <a:extLst>
                  <a:ext uri="{0D108BD9-81ED-4DB2-BD59-A6C34878D82A}">
                    <a16:rowId xmlns:a16="http://schemas.microsoft.com/office/drawing/2014/main" val="42364323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9296361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elestial">
  <a:themeElements>
    <a:clrScheme name="Celestial">
      <a:dk1>
        <a:sysClr val="windowText" lastClr="000000"/>
      </a:dk1>
      <a:lt1>
        <a:sysClr val="window" lastClr="FFFFFF"/>
      </a:lt1>
      <a:dk2>
        <a:srgbClr val="18276C"/>
      </a:dk2>
      <a:lt2>
        <a:srgbClr val="EBEBEB"/>
      </a:lt2>
      <a:accent1>
        <a:srgbClr val="AC3EC1"/>
      </a:accent1>
      <a:accent2>
        <a:srgbClr val="477BD1"/>
      </a:accent2>
      <a:accent3>
        <a:srgbClr val="46B298"/>
      </a:accent3>
      <a:accent4>
        <a:srgbClr val="90BA4C"/>
      </a:accent4>
      <a:accent5>
        <a:srgbClr val="DD9D31"/>
      </a:accent5>
      <a:accent6>
        <a:srgbClr val="E25247"/>
      </a:accent6>
      <a:hlink>
        <a:srgbClr val="C573D2"/>
      </a:hlink>
      <a:folHlink>
        <a:srgbClr val="CCAEE8"/>
      </a:folHlink>
    </a:clrScheme>
    <a:fontScheme name="Celestial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elestial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lumMod val="110000"/>
              </a:schemeClr>
            </a:gs>
            <a:gs pos="100000">
              <a:schemeClr val="phClr">
                <a:tint val="82000"/>
                <a:alpha val="7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0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1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5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6000"/>
                <a:hueMod val="100000"/>
                <a:satMod val="180000"/>
                <a:lumMod val="110000"/>
              </a:schemeClr>
            </a:gs>
            <a:gs pos="100000">
              <a:schemeClr val="phClr">
                <a:shade val="96000"/>
                <a:satMod val="160000"/>
                <a:lumMod val="100000"/>
              </a:schemeClr>
            </a:gs>
          </a:gsLst>
          <a:lin ang="4740000" scaled="1"/>
        </a:gradFill>
        <a:blipFill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elestial" id="{C4BB2A3D-0E93-4C5F-B0D2-9D3FCE089CC5}" vid="{42E5908D-19A2-46FD-89FA-638B126129E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TM03457452[[fn=Celestial]]</Template>
  <TotalTime>212</TotalTime>
  <Words>1070</Words>
  <Application>Microsoft Office PowerPoint</Application>
  <PresentationFormat>Widescreen</PresentationFormat>
  <Paragraphs>128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Celestial</vt:lpstr>
      <vt:lpstr>FinAgent: Compliance Research Platform for AML/PEP/Sanctions</vt:lpstr>
      <vt:lpstr>Problem Statement</vt:lpstr>
      <vt:lpstr>System Architecture - Ingestion Pipeline</vt:lpstr>
      <vt:lpstr>System Architecture - Agentic Search Services</vt:lpstr>
      <vt:lpstr>Key Decision #1: Graph-First Hybrid Retrieval </vt:lpstr>
      <vt:lpstr>Key Decision #2: Agent Design &amp; Engineering Challenges</vt:lpstr>
      <vt:lpstr>Key Decision #2: Agent Design – Issues &amp; Fixes</vt:lpstr>
      <vt:lpstr>Demo</vt:lpstr>
      <vt:lpstr>Conclusion</vt:lpstr>
      <vt:lpstr>APPENDIX — Tech Stack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Devang Swami</dc:creator>
  <cp:lastModifiedBy>Devang Swami</cp:lastModifiedBy>
  <cp:revision>22</cp:revision>
  <dcterms:created xsi:type="dcterms:W3CDTF">2026-06-08T14:53:50Z</dcterms:created>
  <dcterms:modified xsi:type="dcterms:W3CDTF">2026-06-09T03:51:19Z</dcterms:modified>
</cp:coreProperties>
</file>